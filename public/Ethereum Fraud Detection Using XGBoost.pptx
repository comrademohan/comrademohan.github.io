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5CC"/>
    <a:srgbClr val="FBDCBF"/>
    <a:srgbClr val="FFCFE7"/>
    <a:srgbClr val="BFE7FF"/>
    <a:srgbClr val="D7F5CD"/>
    <a:srgbClr val="FCDCBF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4660"/>
  </p:normalViewPr>
  <p:slideViewPr>
    <p:cSldViewPr snapToGrid="0">
      <p:cViewPr>
        <p:scale>
          <a:sx n="95" d="100"/>
          <a:sy n="95" d="100"/>
        </p:scale>
        <p:origin x="-1915" y="-118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5764B0-26CF-02FB-35D4-6BCDA3414CD2}"/>
              </a:ext>
            </a:extLst>
          </p:cNvPr>
          <p:cNvSpPr/>
          <p:nvPr/>
        </p:nvSpPr>
        <p:spPr>
          <a:xfrm>
            <a:off x="-4170" y="9243490"/>
            <a:ext cx="8247714" cy="3079784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3" y="213958"/>
            <a:ext cx="15952717" cy="229053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32607" y="12286155"/>
            <a:ext cx="8276151" cy="2862409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3" y="3495088"/>
            <a:ext cx="8253178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2018" y="3566583"/>
            <a:ext cx="303505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1" y="2719578"/>
            <a:ext cx="8253178" cy="80262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878" y="9365559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2018" y="12323274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14204" y="2693072"/>
            <a:ext cx="8189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of Ethereum Transaction Fraud Detection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Extreme Gradient Boosting Machine Compared with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0C69D-E356-94D3-988E-D3E99B4033C3}"/>
              </a:ext>
            </a:extLst>
          </p:cNvPr>
          <p:cNvSpPr txBox="1"/>
          <p:nvPr/>
        </p:nvSpPr>
        <p:spPr>
          <a:xfrm>
            <a:off x="9643463" y="1470940"/>
            <a:ext cx="64208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</a:t>
            </a:r>
            <a:r>
              <a:rPr lang="en-US" sz="25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192210400</a:t>
            </a:r>
            <a:endParaRPr lang="en-US" sz="2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Name: </a:t>
            </a:r>
            <a:r>
              <a:rPr lang="en-IN" sz="25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Mohan Reddy</a:t>
            </a: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  <a:r>
              <a:rPr lang="en-IN" sz="25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G Charlyn Pushpa Latha</a:t>
            </a:r>
            <a:endParaRPr lang="en-IN" sz="2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9634" y="6400120"/>
            <a:ext cx="8253178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34580" y="14778836"/>
            <a:ext cx="8285781" cy="2998854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19602" y="18711686"/>
            <a:ext cx="8265368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0" y="17936177"/>
            <a:ext cx="8253177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-27144" y="17909670"/>
            <a:ext cx="8285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of Ethereum Transaction Fraud Detection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Extreme Gradient Boosting Machine Compared with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AdaBoost Classifier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19602" y="21614981"/>
            <a:ext cx="8265368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4170" y="24534020"/>
            <a:ext cx="8257345" cy="3076703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9633" y="27587853"/>
            <a:ext cx="8257345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19603" y="30166608"/>
            <a:ext cx="8267316" cy="2747865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4224" y="6438640"/>
            <a:ext cx="5097735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4224" y="14825660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3714" y="18725768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3714" y="24583168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01208" y="27599806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9878" y="21654166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1208" y="30204805"/>
            <a:ext cx="3022889" cy="4744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39746" y="12318675"/>
            <a:ext cx="8064072" cy="2841019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37772" y="9265299"/>
            <a:ext cx="8049865" cy="3180684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9374" y="3506218"/>
            <a:ext cx="8038263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9373" y="6409121"/>
            <a:ext cx="8028635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37773" y="14789966"/>
            <a:ext cx="8064072" cy="2987724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3781" y="18696090"/>
            <a:ext cx="8064072" cy="2945766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5207" y="21625719"/>
            <a:ext cx="8062645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37774" y="24519459"/>
            <a:ext cx="8055646" cy="3104307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39719" y="27587851"/>
            <a:ext cx="8068133" cy="2788441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51870" y="30162260"/>
            <a:ext cx="8055983" cy="2763343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8445208" y="2691614"/>
            <a:ext cx="8048211" cy="80262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8635842" y="2645454"/>
            <a:ext cx="7554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of Ethereum Transaction Fraud Detection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Extreme Gradient Boosting Machine Compared with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8445207" y="17936177"/>
            <a:ext cx="8038263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8439746" y="17895877"/>
            <a:ext cx="7761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of Ethereum Transaction Fraud Detection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Extreme Gradient Boosting Machine Compared with K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 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59625" y="18749081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613860" y="24573994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601779" y="27624971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566176" y="21686033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538755" y="30252215"/>
            <a:ext cx="3022889" cy="4744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635842" y="3559610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635842" y="9358316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538755" y="12395976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8538755" y="6431873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601779" y="14822934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48A2B2F8-3ADB-EAEF-B1C5-A29F8118F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5CD2FA34-A5B9-DB6E-BC31-3624DA3BA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F276320D-A0A6-796A-0530-3611587E9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66676541-9A29-C10A-BFD1-32AA30489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16">
            <a:extLst>
              <a:ext uri="{FF2B5EF4-FFF2-40B4-BE49-F238E27FC236}">
                <a16:creationId xmlns:a16="http://schemas.microsoft.com/office/drawing/2014/main" id="{6FB2A44D-8BC1-3699-1692-6ABF11579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889E609C-EFC2-F5A5-817A-E0468DE7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18">
            <a:extLst>
              <a:ext uri="{FF2B5EF4-FFF2-40B4-BE49-F238E27FC236}">
                <a16:creationId xmlns:a16="http://schemas.microsoft.com/office/drawing/2014/main" id="{39C046D7-C05F-1CE6-6608-106292101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88C58EF7-B32C-C3EB-8326-1B6094AAD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B58947-BAB7-177B-E444-C0F68F79C332}"/>
              </a:ext>
            </a:extLst>
          </p:cNvPr>
          <p:cNvSpPr txBox="1"/>
          <p:nvPr/>
        </p:nvSpPr>
        <p:spPr>
          <a:xfrm>
            <a:off x="16064349" y="1767840"/>
            <a:ext cx="57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7C7D0-078A-DFB4-28B5-02C2D56CF8B7}"/>
              </a:ext>
            </a:extLst>
          </p:cNvPr>
          <p:cNvSpPr txBox="1"/>
          <p:nvPr/>
        </p:nvSpPr>
        <p:spPr>
          <a:xfrm>
            <a:off x="101208" y="4173917"/>
            <a:ext cx="8102729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029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transaction fraud poses significant risks due to the irreversible nature of blockchain transactions. Fraud detection systems must balance accuracy and efficiency to mitigate financial losses.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models, such as Decision Trees (DT) are traditionally used for classification tasks but may struggle with imbalanced datasets, which are common in fraud detection.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compares XG-Boost and Decision Tree classifiers to evaluate their effectiveness in detecting fraudulent Ethereum transactions.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highlights XG-Boost’s superior performance in identifying rare fraud cases, leveraging gradient boosting to improve prediction accuracy.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F45F5-F26F-846C-206D-CCC338090A89}"/>
              </a:ext>
            </a:extLst>
          </p:cNvPr>
          <p:cNvSpPr txBox="1"/>
          <p:nvPr/>
        </p:nvSpPr>
        <p:spPr>
          <a:xfrm>
            <a:off x="59700" y="12943044"/>
            <a:ext cx="8004889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XG-Boost algorithm achieved an accuracy of 94%, which is significantly better than the Decision Tree algorithm 88.5% in detecting fraudulent transactions in the Ethereum blockchain network.</a:t>
            </a:r>
          </a:p>
          <a:p>
            <a:pPr marL="285750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t-test result (t = 5.892, p &lt; 0.001) confirms that the difference in performance between XG-Boost and Decision Tree is statistically significant and not due to random chance.</a:t>
            </a:r>
          </a:p>
          <a:p>
            <a:pPr marL="285750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XG-Boost increases computational complexity compared to the Decision Tree, the significant improvement in detection accuracy and model reliability justifies its use in high-stakes financial fraud detection scenarios.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2CBEBC-A157-CC54-A301-091902E1374C}"/>
              </a:ext>
            </a:extLst>
          </p:cNvPr>
          <p:cNvSpPr txBox="1"/>
          <p:nvPr/>
        </p:nvSpPr>
        <p:spPr>
          <a:xfrm>
            <a:off x="8613861" y="4142367"/>
            <a:ext cx="75872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transaction fraud poses significant risks due to the irreversible nature of blockchain transactions. Fraud detection systems must balance accuracy and efficiency to mitigate financial losses.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technology, particularly Ethereum, has emerged as a decentralized framework for secure transactions. However, fraudulent activities within this system continue to pose critical challenges.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focuses on detecting Ethereum-based fraudulent transactions using machine learning techniques, emphasizing improved detection accuracy.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classification models are explored: Random Forest Classifier RF and Extreme Gradient Boosting (XG-Boost), both evaluated for their effectiveness in identifying fraudulent patterns.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41516-8B8B-1165-C0DD-31A2F1CB24C3}"/>
              </a:ext>
            </a:extLst>
          </p:cNvPr>
          <p:cNvSpPr txBox="1"/>
          <p:nvPr/>
        </p:nvSpPr>
        <p:spPr>
          <a:xfrm>
            <a:off x="8547219" y="12930634"/>
            <a:ext cx="7822103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XG-Boost algorithm achieved an accuracy of 94%, which is significantly better than the Random Forest Classifier algorithm 72.4% in detecting fraudulent transactions in the Ethereum blockchain network.</a:t>
            </a:r>
          </a:p>
          <a:p>
            <a:pPr marL="285750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t-test result (t = 5.892, p &lt; 0.001) confirms that the difference in performance between XG-Boost and Random Forest Classifier algorithm is statistically significant and not due to random chance.</a:t>
            </a:r>
          </a:p>
          <a:p>
            <a:pPr marL="285750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Random Forest classifier is known for its robustness and ensemble decision-making, it demonstrated lower accuracy and greater performance fluctuation across different test scenarios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BF0AC1-28EC-0A6A-5932-46240E46C8E7}"/>
              </a:ext>
            </a:extLst>
          </p:cNvPr>
          <p:cNvSpPr txBox="1"/>
          <p:nvPr/>
        </p:nvSpPr>
        <p:spPr>
          <a:xfrm>
            <a:off x="91245" y="15454118"/>
            <a:ext cx="797334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029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Lee, J., &amp; Kim, S. (2023). Enhancing Blockchain Security: Machine Learning Approaches for Ethereum Fraud Detection. Journal of Cybersecurity and Privacy, 12(3), 45–67</a:t>
            </a:r>
          </a:p>
          <a:p>
            <a:pPr marL="285750" indent="-285750" algn="just"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R., &amp; Zhang, Y. (2023). Comparative Analysis of Ensemble Learning Techniques in Handling Imbalanced Financial Datasets. IEEE Access, 11, 112233–112245. </a:t>
            </a:r>
          </a:p>
          <a:p>
            <a:pPr marL="285750" indent="-285750" algn="just"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Gupta, A., &amp; Wang, L. (2024). Advanced Oversampling Techniques for Fraud Detection: A 2023 Survey. Data Mining and Knowledge Discovery, 37(4), 789–815. </a:t>
            </a:r>
          </a:p>
          <a:p>
            <a:pPr marL="285750" indent="-285750" algn="just"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T., &amp; Li, M. (2023). Optimizing XG-Boost for Real-Time Blockchain Transaction Analysis. Proceedings of the 2023 International Conference on Blockchain Technology, 88–102. 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253761-E824-9342-1754-00086F31068D}"/>
              </a:ext>
            </a:extLst>
          </p:cNvPr>
          <p:cNvSpPr txBox="1"/>
          <p:nvPr/>
        </p:nvSpPr>
        <p:spPr>
          <a:xfrm>
            <a:off x="8412423" y="15348925"/>
            <a:ext cx="7815991" cy="2439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X., Zhang, Y., &amp; Li, J. (2024). Blockchain Fraud Detection Using Ensemble Learning Methods on Transaction Graphs. IEEE Transactions on Computational Social Systems, 10(1), 134–145. </a:t>
            </a:r>
          </a:p>
          <a:p>
            <a:pPr lvl="1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Rahman, M., Uddin, M. S., &amp; Khan, M. S. (2025). Machine Learning-Based Detection of Anomalous Ethereum Transactions. Journal of Financial Data Science, 5(2), 45–60. </a:t>
            </a:r>
          </a:p>
          <a:p>
            <a:pPr lvl="1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K., Wang, P., &amp; Zhou, T. (2023). Comparative Study of XG-Boost and Decision Tree for Crypto Fraud Detection. ACM Transactions on Intelligent Systems and Technology, 14(4), 1–18.</a:t>
            </a:r>
          </a:p>
          <a:p>
            <a:pPr lvl="1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Alzahrani, A., &amp;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Basheri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(2023). A Hybrid Machine Learning Model for Real-Time Ethereum Fraud Detection. Future Internet, 15(1), 23.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6BDC35-D40C-57CC-2FA7-C746BCFE149F}"/>
              </a:ext>
            </a:extLst>
          </p:cNvPr>
          <p:cNvSpPr txBox="1"/>
          <p:nvPr/>
        </p:nvSpPr>
        <p:spPr>
          <a:xfrm>
            <a:off x="73714" y="19187370"/>
            <a:ext cx="81397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Ethereum grows in popularity for decentralized applications and smart contracts, fraudulent transactions have also become more sophisticated and harder to detect.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compares the performance of two ensemble learning algorithms — Extreme Gradient Boosting (XG-Boost) and Adaptive Boosting (AdaBoost) — in identifying fraudulent Ethereum transactions.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research is to benchmark both methods in terms of detection performance and computational efficiency.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XG-Boost algorithm achieved higher accuracy and consistency in detecting fraudulent transactions compared to Ada Boost Classifier.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research highlights XG-Boost’s superior performance in identifying rare fraud cases, leveraging gradient boosting to improve prediction accuracy.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49BB30-C140-2B33-8046-758B739395D8}"/>
              </a:ext>
            </a:extLst>
          </p:cNvPr>
          <p:cNvSpPr txBox="1"/>
          <p:nvPr/>
        </p:nvSpPr>
        <p:spPr>
          <a:xfrm>
            <a:off x="73714" y="28130936"/>
            <a:ext cx="82573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XG-Boost algorithm achieved an accuracy of 94%, which is significantly better than the AdaBoost Classifier’s 77.1% in detecting fraudulent transactions in the Ethereum blockchain network.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focused on evaluating and comparing the performance of the Extreme Gradient Boosting (XGB) algorithm with the AdaBoost Classifier for Ethereum transaction fraud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t-test result (t = 6.271, p &lt; 0.001) confirms that the difference in classification accuracy between XG-Boost and AdaBoost is statistically significant and not due to random chance, indicating a clear advantage for XG-Boost in fraud detection tasks.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AdaBoost is an ensemble learning method that combines multiple weak classifiers to improve performance, it showed lower accuracy and higher variability across different fraud cases.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65D966-B5D7-6B30-2C42-10F631DACDA2}"/>
              </a:ext>
            </a:extLst>
          </p:cNvPr>
          <p:cNvSpPr txBox="1"/>
          <p:nvPr/>
        </p:nvSpPr>
        <p:spPr>
          <a:xfrm>
            <a:off x="89878" y="30823371"/>
            <a:ext cx="81632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K., Wang, P., &amp; Zhou, T. (2025). Comparative Study of XG-Boost and AdaBoost in Detecting Blockchain Fraud. ACM Transactions on Intelligent Systems and Technology, 14(4), 1–18.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Rahman, M., &amp; Uddin, M. S. (2024). Ethereum Transaction Classification Using Boosting-Based Algorithms. Journal of Financial Data Science, 5(2), 60–74.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Alzahrani, A., &amp;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Basheri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(2024). Machine Learning Approaches for Real-Time Blockchain Fraud Detection. Future Internet, 15(1), 28.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Singh, R., &amp; Bansal, A. (2023). Survey on Blockchain Transaction Security and Machine Learning Applications. Computers &amp; Security, 127, 102760.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4CA1F5-DB0F-1212-F8CD-5630C3A6DCEC}"/>
              </a:ext>
            </a:extLst>
          </p:cNvPr>
          <p:cNvSpPr txBox="1"/>
          <p:nvPr/>
        </p:nvSpPr>
        <p:spPr>
          <a:xfrm>
            <a:off x="8601779" y="19303858"/>
            <a:ext cx="780014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29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Ethereum’s decentralized nature makes transaction fraud detection critical, as fraudulent activities can lead to irreversible financial losses. Traditional methods like the K-Nearest Neighbor (KNN) face challenges in scalability and handling imbalanced datasets.</a:t>
            </a:r>
          </a:p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Gradient Boosting (XG-Boost), an ensemble learning technique, excels in managing high-dimensional data and mitigating overfitting through regularization, making it ideal for detecting rare fraudulent transactions.</a:t>
            </a:r>
          </a:p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evaluates XG-Boost against KNN to determine their efficacy in identifying fraudulent Ethereum transactions, emphasizing real-time applicability and computational efficiency.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focuses on detecting Ethereum-based fraudulent transactions using machine learning techniques, emphasizing improved detection accuracy.</a:t>
            </a:r>
          </a:p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661C45-B810-750C-A4C1-CFD47CD10E3B}"/>
              </a:ext>
            </a:extLst>
          </p:cNvPr>
          <p:cNvSpPr txBox="1"/>
          <p:nvPr/>
        </p:nvSpPr>
        <p:spPr>
          <a:xfrm>
            <a:off x="8566176" y="28168112"/>
            <a:ext cx="78031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XG-Boost algorithm achieved an accuracy of 94%, which is significantly higher than the K-Nearest Neighbor (KNN) algorithm’s 82% in detecting fraudulent transactions in the Ethereum blockchain network.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focused on evaluating and comparing the performance of the Extreme Gradient Boosting (XGB) algorithm with the K-Nearest Neighbor algorithm for Ethereum transaction fraud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t-test result (t = 5.984, p &lt; 0.001) confirms that the difference in classification accuracy between XG-Boost and KNN is statistically significant and not due to chance, establishing XG-Boost’s advantage in fraud detection tasks.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924F9E2-AFA1-66A6-1973-E8E4CCFA2456}"/>
              </a:ext>
            </a:extLst>
          </p:cNvPr>
          <p:cNvSpPr txBox="1"/>
          <p:nvPr/>
        </p:nvSpPr>
        <p:spPr>
          <a:xfrm>
            <a:off x="8683325" y="30827567"/>
            <a:ext cx="7545090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Nguyen, T., &amp; Lee, H. (2023). Machine Learning for Blockchain Security: A Focus on Ethereum Fraud Detection. IEEE Transactions on Dependable and Secure Computing.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R., &amp; Kumar, P. (2023). Handling Imbalanced Data in Financial Fraud Detection: A 2023 Perspective. Journal of Big Data, 15(2), 112–130.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Etherscan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(2023). Ethereum Transaction Dataset (2023 Release). 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W., &amp; Li, X. (2023). Optimizing KNN for High-Dimensional Fraud Detection: Challenges and Solutions. ACM Transactions on Knowledge Discovery from Data, 17(4), 1–22. 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74907A13-357A-A316-31E2-048A003607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48"/>
          <a:stretch/>
        </p:blipFill>
        <p:spPr>
          <a:xfrm>
            <a:off x="89878" y="9959673"/>
            <a:ext cx="3767912" cy="218032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CE7E1A0-AF30-2514-918D-3BEA41494A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2357"/>
          <a:stretch/>
        </p:blipFill>
        <p:spPr>
          <a:xfrm>
            <a:off x="8795844" y="25152527"/>
            <a:ext cx="3839566" cy="221247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CEC710-9BF3-B926-FA3A-3668F80858B3}"/>
              </a:ext>
            </a:extLst>
          </p:cNvPr>
          <p:cNvSpPr/>
          <p:nvPr/>
        </p:nvSpPr>
        <p:spPr>
          <a:xfrm>
            <a:off x="120576" y="7853095"/>
            <a:ext cx="1302831" cy="5299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89F60E-E891-EAA4-454A-BA1C2AF1A6FB}"/>
              </a:ext>
            </a:extLst>
          </p:cNvPr>
          <p:cNvSpPr/>
          <p:nvPr/>
        </p:nvSpPr>
        <p:spPr>
          <a:xfrm>
            <a:off x="1534175" y="7825133"/>
            <a:ext cx="1263534" cy="59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91734F-56D6-A60B-A316-F429FDA52FE5}"/>
              </a:ext>
            </a:extLst>
          </p:cNvPr>
          <p:cNvSpPr/>
          <p:nvPr/>
        </p:nvSpPr>
        <p:spPr>
          <a:xfrm>
            <a:off x="2811427" y="7157626"/>
            <a:ext cx="1357745" cy="6534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XG-Boost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983BEB-DB27-8013-67F6-9EB780566CDB}"/>
              </a:ext>
            </a:extLst>
          </p:cNvPr>
          <p:cNvSpPr/>
          <p:nvPr/>
        </p:nvSpPr>
        <p:spPr>
          <a:xfrm>
            <a:off x="4290948" y="7156551"/>
            <a:ext cx="1331271" cy="6707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XGB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0EAF39F-965B-DB51-C200-485E66C0CD13}"/>
              </a:ext>
            </a:extLst>
          </p:cNvPr>
          <p:cNvSpPr/>
          <p:nvPr/>
        </p:nvSpPr>
        <p:spPr>
          <a:xfrm>
            <a:off x="4457919" y="8482183"/>
            <a:ext cx="1241318" cy="6647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DT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F94018-B391-1663-2CE5-46305F765A7A}"/>
              </a:ext>
            </a:extLst>
          </p:cNvPr>
          <p:cNvSpPr/>
          <p:nvPr/>
        </p:nvSpPr>
        <p:spPr>
          <a:xfrm>
            <a:off x="5681506" y="7771893"/>
            <a:ext cx="1144410" cy="6445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Accuracy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3C49A59-BDB0-BDE1-69CF-C905274E4072}"/>
              </a:ext>
            </a:extLst>
          </p:cNvPr>
          <p:cNvSpPr/>
          <p:nvPr/>
        </p:nvSpPr>
        <p:spPr>
          <a:xfrm>
            <a:off x="2800740" y="8497065"/>
            <a:ext cx="1553490" cy="6534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5B7C1C5-BEC1-91DD-588B-AFEC4F32851F}"/>
              </a:ext>
            </a:extLst>
          </p:cNvPr>
          <p:cNvSpPr/>
          <p:nvPr/>
        </p:nvSpPr>
        <p:spPr>
          <a:xfrm>
            <a:off x="6941831" y="7804343"/>
            <a:ext cx="1130530" cy="5635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2119592-1F49-A2BE-5A0E-B0F82019D877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423407" y="8118065"/>
            <a:ext cx="110768" cy="5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1D8C2BB-AA1C-ADA5-DD7D-859BA90C2D76}"/>
              </a:ext>
            </a:extLst>
          </p:cNvPr>
          <p:cNvCxnSpPr>
            <a:stCxn id="6" idx="0"/>
            <a:endCxn id="8" idx="1"/>
          </p:cNvCxnSpPr>
          <p:nvPr/>
        </p:nvCxnSpPr>
        <p:spPr>
          <a:xfrm rot="5400000" flipH="1" flipV="1">
            <a:off x="2318297" y="7332004"/>
            <a:ext cx="340775" cy="645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89F15401-36D2-69D5-8766-1732F6A5C8C0}"/>
              </a:ext>
            </a:extLst>
          </p:cNvPr>
          <p:cNvCxnSpPr>
            <a:endCxn id="65" idx="1"/>
          </p:cNvCxnSpPr>
          <p:nvPr/>
        </p:nvCxnSpPr>
        <p:spPr>
          <a:xfrm>
            <a:off x="2165684" y="8438147"/>
            <a:ext cx="635056" cy="385650"/>
          </a:xfrm>
          <a:prstGeom prst="bentConnector3">
            <a:avLst>
              <a:gd name="adj1" fmla="val -17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0C255CA-365E-3CDC-1E6F-C4EABE1C1DED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4169172" y="7484358"/>
            <a:ext cx="121776" cy="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5CD5994-C5FD-C06C-2F7F-1D104B52938A}"/>
              </a:ext>
            </a:extLst>
          </p:cNvPr>
          <p:cNvCxnSpPr>
            <a:stCxn id="65" idx="3"/>
            <a:endCxn id="28" idx="1"/>
          </p:cNvCxnSpPr>
          <p:nvPr/>
        </p:nvCxnSpPr>
        <p:spPr>
          <a:xfrm flipV="1">
            <a:off x="4354230" y="8814570"/>
            <a:ext cx="103689" cy="9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750D58A9-990E-50B8-8EB6-8EB20B70C928}"/>
              </a:ext>
            </a:extLst>
          </p:cNvPr>
          <p:cNvCxnSpPr>
            <a:stCxn id="21" idx="3"/>
            <a:endCxn id="31" idx="0"/>
          </p:cNvCxnSpPr>
          <p:nvPr/>
        </p:nvCxnSpPr>
        <p:spPr>
          <a:xfrm>
            <a:off x="5622219" y="7491919"/>
            <a:ext cx="631492" cy="2799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412D9F0A-22E0-9446-D38C-11423CF67441}"/>
              </a:ext>
            </a:extLst>
          </p:cNvPr>
          <p:cNvCxnSpPr>
            <a:stCxn id="28" idx="3"/>
            <a:endCxn id="31" idx="2"/>
          </p:cNvCxnSpPr>
          <p:nvPr/>
        </p:nvCxnSpPr>
        <p:spPr>
          <a:xfrm flipV="1">
            <a:off x="5699237" y="8416404"/>
            <a:ext cx="554474" cy="3981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EADD47C-C1C1-D323-F1EC-A97A1EFEB5CE}"/>
              </a:ext>
            </a:extLst>
          </p:cNvPr>
          <p:cNvCxnSpPr>
            <a:stCxn id="31" idx="3"/>
            <a:endCxn id="85" idx="1"/>
          </p:cNvCxnSpPr>
          <p:nvPr/>
        </p:nvCxnSpPr>
        <p:spPr>
          <a:xfrm flipV="1">
            <a:off x="6825916" y="8086111"/>
            <a:ext cx="115915" cy="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0DD52906-D23B-B5A1-8A38-617A1B747F21}"/>
              </a:ext>
            </a:extLst>
          </p:cNvPr>
          <p:cNvSpPr/>
          <p:nvPr/>
        </p:nvSpPr>
        <p:spPr>
          <a:xfrm>
            <a:off x="8498658" y="7909085"/>
            <a:ext cx="1369425" cy="5299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50C5859A-54DB-127C-EF61-76BD2AFD6619}"/>
              </a:ext>
            </a:extLst>
          </p:cNvPr>
          <p:cNvSpPr/>
          <p:nvPr/>
        </p:nvSpPr>
        <p:spPr>
          <a:xfrm>
            <a:off x="9978851" y="7881123"/>
            <a:ext cx="1263534" cy="59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40CA560-B2DF-AE06-E4C7-96717117A015}"/>
              </a:ext>
            </a:extLst>
          </p:cNvPr>
          <p:cNvSpPr/>
          <p:nvPr/>
        </p:nvSpPr>
        <p:spPr>
          <a:xfrm>
            <a:off x="11256103" y="7213616"/>
            <a:ext cx="1357745" cy="6534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XG-Boost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75AE2F8F-DA86-74CA-457C-DD84AB05A8E4}"/>
              </a:ext>
            </a:extLst>
          </p:cNvPr>
          <p:cNvSpPr/>
          <p:nvPr/>
        </p:nvSpPr>
        <p:spPr>
          <a:xfrm>
            <a:off x="12735624" y="7212541"/>
            <a:ext cx="1331271" cy="6707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XGB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EB3DF56-E731-F225-0BB5-E2BA370AD556}"/>
              </a:ext>
            </a:extLst>
          </p:cNvPr>
          <p:cNvSpPr/>
          <p:nvPr/>
        </p:nvSpPr>
        <p:spPr>
          <a:xfrm>
            <a:off x="12902595" y="8538173"/>
            <a:ext cx="1241318" cy="6647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RF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271CF117-F57D-C274-B942-E47E92D97AB8}"/>
              </a:ext>
            </a:extLst>
          </p:cNvPr>
          <p:cNvSpPr/>
          <p:nvPr/>
        </p:nvSpPr>
        <p:spPr>
          <a:xfrm>
            <a:off x="14126182" y="7827883"/>
            <a:ext cx="1144410" cy="6445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Accuracy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8943B4C-8648-988C-7722-FBAF236EEEB8}"/>
              </a:ext>
            </a:extLst>
          </p:cNvPr>
          <p:cNvSpPr/>
          <p:nvPr/>
        </p:nvSpPr>
        <p:spPr>
          <a:xfrm>
            <a:off x="11135360" y="8553055"/>
            <a:ext cx="1663546" cy="6534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905A5161-9BEC-2445-3951-5A0CF749539A}"/>
              </a:ext>
            </a:extLst>
          </p:cNvPr>
          <p:cNvSpPr/>
          <p:nvPr/>
        </p:nvSpPr>
        <p:spPr>
          <a:xfrm>
            <a:off x="15386507" y="7860333"/>
            <a:ext cx="803890" cy="5692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8BC1D2D9-CB95-5FBA-2E0C-F7EE23995D5B}"/>
              </a:ext>
            </a:extLst>
          </p:cNvPr>
          <p:cNvCxnSpPr>
            <a:cxnSpLocks/>
            <a:endCxn id="126" idx="1"/>
          </p:cNvCxnSpPr>
          <p:nvPr/>
        </p:nvCxnSpPr>
        <p:spPr>
          <a:xfrm>
            <a:off x="10610360" y="8494137"/>
            <a:ext cx="525000" cy="385650"/>
          </a:xfrm>
          <a:prstGeom prst="bentConnector3">
            <a:avLst>
              <a:gd name="adj1" fmla="val -22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18DF00CA-72BC-B2B4-CC1A-F821614584DB}"/>
              </a:ext>
            </a:extLst>
          </p:cNvPr>
          <p:cNvCxnSpPr>
            <a:stCxn id="124" idx="3"/>
            <a:endCxn id="125" idx="2"/>
          </p:cNvCxnSpPr>
          <p:nvPr/>
        </p:nvCxnSpPr>
        <p:spPr>
          <a:xfrm flipV="1">
            <a:off x="14143913" y="8472394"/>
            <a:ext cx="554474" cy="3981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B38F621-CBE0-3F93-4F4E-DD834977C43D}"/>
              </a:ext>
            </a:extLst>
          </p:cNvPr>
          <p:cNvCxnSpPr>
            <a:stCxn id="120" idx="3"/>
          </p:cNvCxnSpPr>
          <p:nvPr/>
        </p:nvCxnSpPr>
        <p:spPr>
          <a:xfrm flipV="1">
            <a:off x="9868083" y="8170616"/>
            <a:ext cx="127615" cy="3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CA7AF27-49F9-8ABB-8581-150A3186E814}"/>
              </a:ext>
            </a:extLst>
          </p:cNvPr>
          <p:cNvCxnSpPr/>
          <p:nvPr/>
        </p:nvCxnSpPr>
        <p:spPr>
          <a:xfrm>
            <a:off x="15278318" y="8161333"/>
            <a:ext cx="125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40B1DEB-1495-0410-090A-37C8A0360B6B}"/>
              </a:ext>
            </a:extLst>
          </p:cNvPr>
          <p:cNvCxnSpPr>
            <a:stCxn id="122" idx="3"/>
            <a:endCxn id="123" idx="1"/>
          </p:cNvCxnSpPr>
          <p:nvPr/>
        </p:nvCxnSpPr>
        <p:spPr>
          <a:xfrm>
            <a:off x="12613848" y="7540348"/>
            <a:ext cx="121776" cy="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2C9F1B3-5EFD-3E0F-BEFD-C925A0A788E0}"/>
              </a:ext>
            </a:extLst>
          </p:cNvPr>
          <p:cNvCxnSpPr>
            <a:stCxn id="126" idx="3"/>
            <a:endCxn id="124" idx="1"/>
          </p:cNvCxnSpPr>
          <p:nvPr/>
        </p:nvCxnSpPr>
        <p:spPr>
          <a:xfrm flipV="1">
            <a:off x="12798906" y="8870560"/>
            <a:ext cx="103689" cy="9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4A38DE9F-002D-28C8-BDB9-8479F54567C0}"/>
              </a:ext>
            </a:extLst>
          </p:cNvPr>
          <p:cNvCxnSpPr>
            <a:stCxn id="121" idx="0"/>
            <a:endCxn id="122" idx="1"/>
          </p:cNvCxnSpPr>
          <p:nvPr/>
        </p:nvCxnSpPr>
        <p:spPr>
          <a:xfrm rot="5400000" flipH="1" flipV="1">
            <a:off x="10762973" y="7387994"/>
            <a:ext cx="340775" cy="645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EA58CEDE-800A-483A-E062-97C00328CC38}"/>
              </a:ext>
            </a:extLst>
          </p:cNvPr>
          <p:cNvCxnSpPr>
            <a:stCxn id="123" idx="3"/>
            <a:endCxn id="125" idx="0"/>
          </p:cNvCxnSpPr>
          <p:nvPr/>
        </p:nvCxnSpPr>
        <p:spPr>
          <a:xfrm>
            <a:off x="14066895" y="7547909"/>
            <a:ext cx="631492" cy="2799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B3881054-9BB6-D142-E7BA-403058F52164}"/>
              </a:ext>
            </a:extLst>
          </p:cNvPr>
          <p:cNvSpPr/>
          <p:nvPr/>
        </p:nvSpPr>
        <p:spPr>
          <a:xfrm>
            <a:off x="262474" y="23061308"/>
            <a:ext cx="1369425" cy="5299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FB71871B-A08C-1069-33F2-88B9CCDB19DD}"/>
              </a:ext>
            </a:extLst>
          </p:cNvPr>
          <p:cNvSpPr/>
          <p:nvPr/>
        </p:nvSpPr>
        <p:spPr>
          <a:xfrm>
            <a:off x="1742667" y="23033346"/>
            <a:ext cx="1263534" cy="59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A7B413EA-8601-ABB6-35CC-6F25F14FDF89}"/>
              </a:ext>
            </a:extLst>
          </p:cNvPr>
          <p:cNvSpPr/>
          <p:nvPr/>
        </p:nvSpPr>
        <p:spPr>
          <a:xfrm>
            <a:off x="3019919" y="22365839"/>
            <a:ext cx="1357745" cy="6534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XG-Boost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56DDB07A-13F6-27DB-1A1A-B7526CC1770B}"/>
              </a:ext>
            </a:extLst>
          </p:cNvPr>
          <p:cNvSpPr/>
          <p:nvPr/>
        </p:nvSpPr>
        <p:spPr>
          <a:xfrm>
            <a:off x="4499440" y="22364764"/>
            <a:ext cx="1331271" cy="6707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XGB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2FC9677B-65F7-2C2A-048F-856D53DABF3E}"/>
              </a:ext>
            </a:extLst>
          </p:cNvPr>
          <p:cNvSpPr/>
          <p:nvPr/>
        </p:nvSpPr>
        <p:spPr>
          <a:xfrm>
            <a:off x="4666411" y="23690396"/>
            <a:ext cx="1241318" cy="6647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ADA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730D290-BE2F-B4F9-D952-1B0270413247}"/>
              </a:ext>
            </a:extLst>
          </p:cNvPr>
          <p:cNvSpPr/>
          <p:nvPr/>
        </p:nvSpPr>
        <p:spPr>
          <a:xfrm>
            <a:off x="5889998" y="22980106"/>
            <a:ext cx="1144410" cy="6445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Accuracy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C82C4449-185A-58FC-F0C2-47D2DA79B399}"/>
              </a:ext>
            </a:extLst>
          </p:cNvPr>
          <p:cNvSpPr/>
          <p:nvPr/>
        </p:nvSpPr>
        <p:spPr>
          <a:xfrm>
            <a:off x="3009232" y="23705278"/>
            <a:ext cx="1553490" cy="6534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3F7C5A2-C3DC-72D3-86EE-BE78F7C14774}"/>
              </a:ext>
            </a:extLst>
          </p:cNvPr>
          <p:cNvCxnSpPr>
            <a:stCxn id="158" idx="3"/>
            <a:endCxn id="159" idx="1"/>
          </p:cNvCxnSpPr>
          <p:nvPr/>
        </p:nvCxnSpPr>
        <p:spPr>
          <a:xfrm>
            <a:off x="1631899" y="23326278"/>
            <a:ext cx="110768" cy="5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18BBEE85-BABE-A61E-F345-F0A984103A69}"/>
              </a:ext>
            </a:extLst>
          </p:cNvPr>
          <p:cNvCxnSpPr>
            <a:stCxn id="159" idx="0"/>
            <a:endCxn id="160" idx="1"/>
          </p:cNvCxnSpPr>
          <p:nvPr/>
        </p:nvCxnSpPr>
        <p:spPr>
          <a:xfrm rot="5400000" flipH="1" flipV="1">
            <a:off x="2526789" y="22540217"/>
            <a:ext cx="340775" cy="645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698CB4B2-D706-BA9B-3345-B9DB3D57D905}"/>
              </a:ext>
            </a:extLst>
          </p:cNvPr>
          <p:cNvCxnSpPr>
            <a:endCxn id="164" idx="1"/>
          </p:cNvCxnSpPr>
          <p:nvPr/>
        </p:nvCxnSpPr>
        <p:spPr>
          <a:xfrm>
            <a:off x="2374176" y="23646360"/>
            <a:ext cx="635056" cy="385650"/>
          </a:xfrm>
          <a:prstGeom prst="bentConnector3">
            <a:avLst>
              <a:gd name="adj1" fmla="val -17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BB4D5401-19AD-7727-6115-968B13981DDD}"/>
              </a:ext>
            </a:extLst>
          </p:cNvPr>
          <p:cNvCxnSpPr>
            <a:stCxn id="160" idx="3"/>
            <a:endCxn id="161" idx="1"/>
          </p:cNvCxnSpPr>
          <p:nvPr/>
        </p:nvCxnSpPr>
        <p:spPr>
          <a:xfrm>
            <a:off x="4377664" y="22692571"/>
            <a:ext cx="121776" cy="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E0001EE-5BE5-FA6A-A98F-F6EA48108ABF}"/>
              </a:ext>
            </a:extLst>
          </p:cNvPr>
          <p:cNvCxnSpPr>
            <a:stCxn id="164" idx="3"/>
            <a:endCxn id="162" idx="1"/>
          </p:cNvCxnSpPr>
          <p:nvPr/>
        </p:nvCxnSpPr>
        <p:spPr>
          <a:xfrm flipV="1">
            <a:off x="4562722" y="24022783"/>
            <a:ext cx="103689" cy="9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C9ECDAEF-1313-603C-EEA2-83B115C15147}"/>
              </a:ext>
            </a:extLst>
          </p:cNvPr>
          <p:cNvCxnSpPr>
            <a:stCxn id="161" idx="3"/>
            <a:endCxn id="163" idx="0"/>
          </p:cNvCxnSpPr>
          <p:nvPr/>
        </p:nvCxnSpPr>
        <p:spPr>
          <a:xfrm>
            <a:off x="5830711" y="22700132"/>
            <a:ext cx="631492" cy="2799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B9980FDD-30D1-28B6-8F33-56FE35FFD88C}"/>
              </a:ext>
            </a:extLst>
          </p:cNvPr>
          <p:cNvCxnSpPr>
            <a:stCxn id="162" idx="3"/>
            <a:endCxn id="163" idx="2"/>
          </p:cNvCxnSpPr>
          <p:nvPr/>
        </p:nvCxnSpPr>
        <p:spPr>
          <a:xfrm flipV="1">
            <a:off x="5907729" y="23624617"/>
            <a:ext cx="554474" cy="3981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91B2D79-ACD4-1948-06A9-3A6F16473743}"/>
              </a:ext>
            </a:extLst>
          </p:cNvPr>
          <p:cNvCxnSpPr>
            <a:stCxn id="163" idx="3"/>
          </p:cNvCxnSpPr>
          <p:nvPr/>
        </p:nvCxnSpPr>
        <p:spPr>
          <a:xfrm flipV="1">
            <a:off x="7034408" y="23294324"/>
            <a:ext cx="115915" cy="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D86BBBF1-F931-B244-BA7D-F2FD35EA4C2D}"/>
              </a:ext>
            </a:extLst>
          </p:cNvPr>
          <p:cNvSpPr/>
          <p:nvPr/>
        </p:nvSpPr>
        <p:spPr>
          <a:xfrm>
            <a:off x="8499509" y="23098677"/>
            <a:ext cx="1369425" cy="5299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F20B596B-A16B-941B-7E79-D48C5EFE779E}"/>
              </a:ext>
            </a:extLst>
          </p:cNvPr>
          <p:cNvSpPr/>
          <p:nvPr/>
        </p:nvSpPr>
        <p:spPr>
          <a:xfrm>
            <a:off x="9979702" y="23070715"/>
            <a:ext cx="1263534" cy="59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3B889503-F52D-2B99-4DE9-B58BE31D02C2}"/>
              </a:ext>
            </a:extLst>
          </p:cNvPr>
          <p:cNvSpPr/>
          <p:nvPr/>
        </p:nvSpPr>
        <p:spPr>
          <a:xfrm>
            <a:off x="11256954" y="22403208"/>
            <a:ext cx="1357745" cy="6534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XG-Boost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E069D72A-DCF2-36E1-0F6B-0388CA3EBC17}"/>
              </a:ext>
            </a:extLst>
          </p:cNvPr>
          <p:cNvSpPr/>
          <p:nvPr/>
        </p:nvSpPr>
        <p:spPr>
          <a:xfrm>
            <a:off x="12736475" y="22402133"/>
            <a:ext cx="1331271" cy="6707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XGB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E210776D-4E23-491D-341D-67CF94AB885D}"/>
              </a:ext>
            </a:extLst>
          </p:cNvPr>
          <p:cNvSpPr/>
          <p:nvPr/>
        </p:nvSpPr>
        <p:spPr>
          <a:xfrm>
            <a:off x="13149253" y="23736143"/>
            <a:ext cx="1241318" cy="6647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KNN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AD48342F-E53E-D717-5AFA-4FEBFE20941D}"/>
              </a:ext>
            </a:extLst>
          </p:cNvPr>
          <p:cNvSpPr/>
          <p:nvPr/>
        </p:nvSpPr>
        <p:spPr>
          <a:xfrm>
            <a:off x="14127033" y="23017475"/>
            <a:ext cx="1144410" cy="6445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Accuracy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696A8639-1137-8EFC-AA8D-2A806AEBB4F0}"/>
              </a:ext>
            </a:extLst>
          </p:cNvPr>
          <p:cNvSpPr/>
          <p:nvPr/>
        </p:nvSpPr>
        <p:spPr>
          <a:xfrm>
            <a:off x="11105638" y="23637855"/>
            <a:ext cx="1877961" cy="8374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3FBEE45F-79B5-84F4-6774-E79EE46B0425}"/>
              </a:ext>
            </a:extLst>
          </p:cNvPr>
          <p:cNvCxnSpPr>
            <a:stCxn id="204" idx="3"/>
            <a:endCxn id="205" idx="1"/>
          </p:cNvCxnSpPr>
          <p:nvPr/>
        </p:nvCxnSpPr>
        <p:spPr>
          <a:xfrm>
            <a:off x="9868934" y="23363647"/>
            <a:ext cx="110768" cy="5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2C7F249A-65FE-8FB5-3181-2A7B1AA627DB}"/>
              </a:ext>
            </a:extLst>
          </p:cNvPr>
          <p:cNvCxnSpPr>
            <a:stCxn id="205" idx="0"/>
            <a:endCxn id="206" idx="1"/>
          </p:cNvCxnSpPr>
          <p:nvPr/>
        </p:nvCxnSpPr>
        <p:spPr>
          <a:xfrm rot="5400000" flipH="1" flipV="1">
            <a:off x="10763824" y="22577586"/>
            <a:ext cx="340775" cy="645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61F4F46E-6FA0-67E5-84A8-FFE228E1FEFD}"/>
              </a:ext>
            </a:extLst>
          </p:cNvPr>
          <p:cNvCxnSpPr>
            <a:cxnSpLocks/>
            <a:endCxn id="210" idx="1"/>
          </p:cNvCxnSpPr>
          <p:nvPr/>
        </p:nvCxnSpPr>
        <p:spPr>
          <a:xfrm>
            <a:off x="10630875" y="23762905"/>
            <a:ext cx="474763" cy="293666"/>
          </a:xfrm>
          <a:prstGeom prst="bentConnector3">
            <a:avLst>
              <a:gd name="adj1" fmla="val -17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7A30C4B1-599C-C70F-169C-BE1FBD226FF3}"/>
              </a:ext>
            </a:extLst>
          </p:cNvPr>
          <p:cNvCxnSpPr>
            <a:stCxn id="206" idx="3"/>
            <a:endCxn id="207" idx="1"/>
          </p:cNvCxnSpPr>
          <p:nvPr/>
        </p:nvCxnSpPr>
        <p:spPr>
          <a:xfrm>
            <a:off x="12614699" y="22729940"/>
            <a:ext cx="121776" cy="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C3085E3C-B3D2-9711-4F84-7742096EFE96}"/>
              </a:ext>
            </a:extLst>
          </p:cNvPr>
          <p:cNvCxnSpPr>
            <a:cxnSpLocks/>
            <a:stCxn id="210" idx="3"/>
            <a:endCxn id="208" idx="1"/>
          </p:cNvCxnSpPr>
          <p:nvPr/>
        </p:nvCxnSpPr>
        <p:spPr>
          <a:xfrm>
            <a:off x="12983599" y="24056571"/>
            <a:ext cx="165654" cy="11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1F62124E-8F34-C730-197F-CB3233318B5C}"/>
              </a:ext>
            </a:extLst>
          </p:cNvPr>
          <p:cNvCxnSpPr>
            <a:stCxn id="207" idx="3"/>
            <a:endCxn id="209" idx="0"/>
          </p:cNvCxnSpPr>
          <p:nvPr/>
        </p:nvCxnSpPr>
        <p:spPr>
          <a:xfrm>
            <a:off x="14067746" y="22737501"/>
            <a:ext cx="631492" cy="2799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280B866D-C54C-0CEA-F0D7-3CF9E21070E5}"/>
              </a:ext>
            </a:extLst>
          </p:cNvPr>
          <p:cNvCxnSpPr>
            <a:stCxn id="208" idx="3"/>
            <a:endCxn id="209" idx="2"/>
          </p:cNvCxnSpPr>
          <p:nvPr/>
        </p:nvCxnSpPr>
        <p:spPr>
          <a:xfrm flipV="1">
            <a:off x="14390571" y="23661986"/>
            <a:ext cx="308667" cy="4065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AEC6B335-25E8-563E-7F1C-7D6FF7F9F95B}"/>
              </a:ext>
            </a:extLst>
          </p:cNvPr>
          <p:cNvCxnSpPr>
            <a:stCxn id="209" idx="3"/>
          </p:cNvCxnSpPr>
          <p:nvPr/>
        </p:nvCxnSpPr>
        <p:spPr>
          <a:xfrm flipV="1">
            <a:off x="15271443" y="23331693"/>
            <a:ext cx="115915" cy="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C6C7FFB1-E28A-2CDB-16A3-546B0CCEE326}"/>
              </a:ext>
            </a:extLst>
          </p:cNvPr>
          <p:cNvSpPr/>
          <p:nvPr/>
        </p:nvSpPr>
        <p:spPr>
          <a:xfrm>
            <a:off x="7129768" y="23053688"/>
            <a:ext cx="995697" cy="5808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F19A45DD-41DD-2FD0-96EE-BBBE2FF073B8}"/>
              </a:ext>
            </a:extLst>
          </p:cNvPr>
          <p:cNvSpPr/>
          <p:nvPr/>
        </p:nvSpPr>
        <p:spPr>
          <a:xfrm>
            <a:off x="15373031" y="23010903"/>
            <a:ext cx="996291" cy="7165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087B386-F73B-DF63-31FA-9AA04C056D2B}"/>
              </a:ext>
            </a:extLst>
          </p:cNvPr>
          <p:cNvSpPr txBox="1"/>
          <p:nvPr/>
        </p:nvSpPr>
        <p:spPr>
          <a:xfrm>
            <a:off x="3962774" y="9242087"/>
            <a:ext cx="419653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shows that XG-Boost algorithm has higher accuracy (94%) than Decision Tree (88.5%)in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Transaction Fraud Detection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focused on comparing the performance of the XG-Boost (XGB) algorithm with the Decision Tree (DT) algorithm for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raud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etection in </a:t>
            </a:r>
            <a:r>
              <a:rPr 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400" b="1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thereum</a:t>
            </a:r>
            <a:r>
              <a:rPr lang="en-US" sz="1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94% confidence interval of the mean difference (6.82 to 11.46) from the t-test further supports the consistency and reliability of the XG-Boost algorithm in fraud detection tasks.</a:t>
            </a:r>
            <a:endParaRPr lang="en-US" sz="1400" b="1" kern="12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contrast, the Decision Tree model is faster and simpler, but less accurate. 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BBC23612-8270-EB73-D42C-F495D553FBE7}"/>
              </a:ext>
            </a:extLst>
          </p:cNvPr>
          <p:cNvSpPr txBox="1"/>
          <p:nvPr/>
        </p:nvSpPr>
        <p:spPr>
          <a:xfrm>
            <a:off x="12112669" y="9307734"/>
            <a:ext cx="42445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shows that the XG-Boost algorithm achieved a higher accuracy (94%) than the Random Forest Classifier (72.4%) in Ethereum transaction fraud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focused on comparing the performance of the Extreme Gradient Boosting (XGB) algorithm with the Random Forest (RF) algorithm for identifying fraudulent activity in blockchain-based transactions.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94% confidence interval of the mean difference (4.78 to 8.91) obtained from the independent samples T-test supports the consistency, and reliability of the XG-Boost algorithm in fraud detection tasks (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0.05).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8D35607-324C-6B2C-0910-D7560C12105D}"/>
              </a:ext>
            </a:extLst>
          </p:cNvPr>
          <p:cNvSpPr txBox="1"/>
          <p:nvPr/>
        </p:nvSpPr>
        <p:spPr>
          <a:xfrm>
            <a:off x="4159739" y="24530446"/>
            <a:ext cx="40860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shows that the XG-Boost algorithm achieved 94% accuracy, outperforming the AdaBoost Classifier’s 77.1% in detecting Ethereum transaction fraud.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confidence interval of the mean difference (5.92 to 9.47) and the T-test (p &lt; 0.05) confirm the statistical significance and reliability of XG-Boost's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XG-Boost offers better precision, handles complex patterns more effectively, and generalizes well across fraud detection scenarios.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contrast, although AdaBoost is an ensemble of weak learners showed lower accuracy.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651D30BF-7F6F-DDC0-BBAB-232DFC4A2D0A}"/>
              </a:ext>
            </a:extLst>
          </p:cNvPr>
          <p:cNvSpPr txBox="1"/>
          <p:nvPr/>
        </p:nvSpPr>
        <p:spPr>
          <a:xfrm>
            <a:off x="12725707" y="24583698"/>
            <a:ext cx="364361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XG-Boost algorithm achieved 94% accuracy, outperforming the K-Nearest Neighbor (KNN)’s 82% in detecting Ethereum transaction fraud.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 difference (6.84 to 10.62) and T-test (p &lt; 0.05) confirm a statistically significant performance gap.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XG-Boost handles non-linear patterns well and reduces overfitting, aiding fraud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is prone to noise and scalability issues, leading to lower accuracy and unstable results.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BF94CB-0C82-D255-322E-922E0D7AF646}"/>
              </a:ext>
            </a:extLst>
          </p:cNvPr>
          <p:cNvSpPr/>
          <p:nvPr/>
        </p:nvSpPr>
        <p:spPr>
          <a:xfrm>
            <a:off x="89878" y="12123576"/>
            <a:ext cx="3767912" cy="162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62D78A-962D-F98A-911D-79D0C0C9406E}"/>
              </a:ext>
            </a:extLst>
          </p:cNvPr>
          <p:cNvSpPr txBox="1"/>
          <p:nvPr/>
        </p:nvSpPr>
        <p:spPr>
          <a:xfrm>
            <a:off x="1423407" y="12097055"/>
            <a:ext cx="16432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Final graph	</a:t>
            </a:r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4C555AF-9FA0-AC71-8E3D-55FA3E730679}"/>
              </a:ext>
            </a:extLst>
          </p:cNvPr>
          <p:cNvSpPr/>
          <p:nvPr/>
        </p:nvSpPr>
        <p:spPr>
          <a:xfrm>
            <a:off x="8795844" y="27365006"/>
            <a:ext cx="3839566" cy="23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AD9D6C-4E2D-497C-C8CB-687A853EB9CB}"/>
              </a:ext>
            </a:extLst>
          </p:cNvPr>
          <p:cNvSpPr txBox="1"/>
          <p:nvPr/>
        </p:nvSpPr>
        <p:spPr>
          <a:xfrm>
            <a:off x="10230981" y="27411523"/>
            <a:ext cx="1330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Final graph</a:t>
            </a:r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2EED21A-6ADF-72CC-2841-22CD8F93054C}"/>
              </a:ext>
            </a:extLst>
          </p:cNvPr>
          <p:cNvGrpSpPr/>
          <p:nvPr/>
        </p:nvGrpSpPr>
        <p:grpSpPr>
          <a:xfrm>
            <a:off x="8659625" y="9929211"/>
            <a:ext cx="3366246" cy="2406692"/>
            <a:chOff x="8659625" y="9929211"/>
            <a:chExt cx="3366246" cy="240669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8D8B086-FB5E-A45E-916A-4AABA85FFC7B}"/>
                </a:ext>
              </a:extLst>
            </p:cNvPr>
            <p:cNvSpPr/>
            <p:nvPr/>
          </p:nvSpPr>
          <p:spPr>
            <a:xfrm>
              <a:off x="8659625" y="12133135"/>
              <a:ext cx="3366246" cy="1625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43CA0F6-59EB-682B-2483-FBAA62387500}"/>
                </a:ext>
              </a:extLst>
            </p:cNvPr>
            <p:cNvSpPr txBox="1"/>
            <p:nvPr/>
          </p:nvSpPr>
          <p:spPr>
            <a:xfrm>
              <a:off x="9817954" y="12089682"/>
              <a:ext cx="1486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2: Final graph</a:t>
              </a:r>
              <a:endPara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3679BE96-8A95-C728-5402-B3E29A585273}"/>
                </a:ext>
              </a:extLst>
            </p:cNvPr>
            <p:cNvGrpSpPr/>
            <p:nvPr/>
          </p:nvGrpSpPr>
          <p:grpSpPr>
            <a:xfrm>
              <a:off x="8659625" y="9929211"/>
              <a:ext cx="3363296" cy="2203924"/>
              <a:chOff x="8659625" y="9929211"/>
              <a:chExt cx="3363296" cy="2203924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CF2C14D3-375E-F8B7-FDC9-B4148F3D9EEA}"/>
                  </a:ext>
                </a:extLst>
              </p:cNvPr>
              <p:cNvGrpSpPr/>
              <p:nvPr/>
            </p:nvGrpSpPr>
            <p:grpSpPr>
              <a:xfrm>
                <a:off x="8659625" y="9929211"/>
                <a:ext cx="3363296" cy="2203924"/>
                <a:chOff x="8688384" y="9977131"/>
                <a:chExt cx="3363296" cy="2203924"/>
              </a:xfrm>
            </p:grpSpPr>
            <p:pic>
              <p:nvPicPr>
                <p:cNvPr id="96" name="image2.png">
                  <a:extLst>
                    <a:ext uri="{FF2B5EF4-FFF2-40B4-BE49-F238E27FC236}">
                      <a16:creationId xmlns:a16="http://schemas.microsoft.com/office/drawing/2014/main" id="{D2146540-9C5F-2D59-CA97-5FCD17878BEA}"/>
                    </a:ext>
                  </a:extLst>
                </p:cNvPr>
                <p:cNvPicPr/>
                <p:nvPr/>
              </p:nvPicPr>
              <p:blipFill>
                <a:blip r:embed="rId5"/>
                <a:srcRect b="1861"/>
                <a:stretch/>
              </p:blipFill>
              <p:spPr>
                <a:xfrm>
                  <a:off x="8688384" y="9977131"/>
                  <a:ext cx="3363296" cy="2203924"/>
                </a:xfrm>
                <a:prstGeom prst="rect">
                  <a:avLst/>
                </a:prstGeom>
                <a:ln/>
              </p:spPr>
            </p:pic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0C438A1-7505-5F08-689B-9CB09F2E4E20}"/>
                    </a:ext>
                  </a:extLst>
                </p:cNvPr>
                <p:cNvSpPr/>
                <p:nvPr/>
              </p:nvSpPr>
              <p:spPr>
                <a:xfrm>
                  <a:off x="9873615" y="11706225"/>
                  <a:ext cx="55245" cy="4977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</p:grpSp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0BBED0F5-B620-E179-4F0D-D50E4A614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48252" t="85649" r="40464" b="7296"/>
              <a:stretch/>
            </p:blipFill>
            <p:spPr>
              <a:xfrm>
                <a:off x="10234232" y="11728710"/>
                <a:ext cx="433271" cy="159848"/>
              </a:xfrm>
              <a:prstGeom prst="rect">
                <a:avLst/>
              </a:prstGeom>
            </p:spPr>
          </p:pic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99AC166-89BF-2988-59A6-F70CA6A646ED}"/>
              </a:ext>
            </a:extLst>
          </p:cNvPr>
          <p:cNvGrpSpPr/>
          <p:nvPr/>
        </p:nvGrpSpPr>
        <p:grpSpPr>
          <a:xfrm>
            <a:off x="143779" y="25164199"/>
            <a:ext cx="3876621" cy="2437730"/>
            <a:chOff x="143779" y="25164199"/>
            <a:chExt cx="3876621" cy="2437730"/>
          </a:xfrm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EA035B46-85C8-F99B-E179-2B7C40F3E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780" y="25164199"/>
              <a:ext cx="3876620" cy="2279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452BE42-89A2-B0FE-7A77-C137CC6D8052}"/>
                </a:ext>
              </a:extLst>
            </p:cNvPr>
            <p:cNvSpPr/>
            <p:nvPr/>
          </p:nvSpPr>
          <p:spPr>
            <a:xfrm>
              <a:off x="143779" y="27399420"/>
              <a:ext cx="3876619" cy="1625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696516D-3657-5EEE-6DB8-D3B78641C16B}"/>
                </a:ext>
              </a:extLst>
            </p:cNvPr>
            <p:cNvSpPr txBox="1"/>
            <p:nvPr/>
          </p:nvSpPr>
          <p:spPr>
            <a:xfrm>
              <a:off x="1571425" y="27355708"/>
              <a:ext cx="13306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3: Final graph</a:t>
              </a:r>
              <a:endPara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7CF26075-1A3A-47E1-823D-F0C998BE2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252" t="85649" r="40464" b="7296"/>
            <a:stretch/>
          </p:blipFill>
          <p:spPr>
            <a:xfrm>
              <a:off x="2028446" y="26994292"/>
              <a:ext cx="433271" cy="159848"/>
            </a:xfrm>
            <a:prstGeom prst="rect">
              <a:avLst/>
            </a:prstGeom>
          </p:spPr>
        </p:pic>
      </p:grp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822CCA2-7CED-CEE3-C55E-B575FA7E43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72" t="89566" r="42405" b="663"/>
          <a:stretch/>
        </p:blipFill>
        <p:spPr bwMode="auto">
          <a:xfrm>
            <a:off x="10460116" y="27264175"/>
            <a:ext cx="562999" cy="2227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953</TotalTime>
  <Words>1933</Words>
  <Application>Microsoft Office PowerPoint</Application>
  <PresentationFormat>Custom</PresentationFormat>
  <Paragraphs>140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Comrade Mohan</cp:lastModifiedBy>
  <cp:revision>56</cp:revision>
  <dcterms:created xsi:type="dcterms:W3CDTF">2023-04-19T08:35:46Z</dcterms:created>
  <dcterms:modified xsi:type="dcterms:W3CDTF">2025-05-28T07:48:39Z</dcterms:modified>
</cp:coreProperties>
</file>